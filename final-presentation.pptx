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5"/>
    <p:sldMasterId id="214748370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Figtree"/>
      <p:regular r:id="rId16"/>
      <p:bold r:id="rId17"/>
      <p:italic r:id="rId18"/>
      <p:boldItalic r:id="rId19"/>
    </p:embeddedFont>
    <p:embeddedFont>
      <p:font typeface="Jost Light"/>
      <p:regular r:id="rId20"/>
      <p:bold r:id="rId21"/>
      <p:italic r:id="rId22"/>
      <p:boldItalic r:id="rId23"/>
    </p:embeddedFont>
    <p:embeddedFont>
      <p:font typeface="Figtree Light"/>
      <p:regular r:id="rId24"/>
      <p:bold r:id="rId25"/>
      <p:italic r:id="rId26"/>
      <p:boldItalic r:id="rId27"/>
    </p:embeddedFont>
    <p:embeddedFont>
      <p:font typeface="Jo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418823-4D80-41C4-AF5A-62FA3F63B6C3}">
  <a:tblStyle styleId="{A4418823-4D80-41C4-AF5A-62FA3F63B6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Light-regular.fntdata"/><Relationship Id="rId22" Type="http://schemas.openxmlformats.org/officeDocument/2006/relationships/font" Target="fonts/JostLight-italic.fntdata"/><Relationship Id="rId21" Type="http://schemas.openxmlformats.org/officeDocument/2006/relationships/font" Target="fonts/JostLight-bold.fntdata"/><Relationship Id="rId24" Type="http://schemas.openxmlformats.org/officeDocument/2006/relationships/font" Target="fonts/FigtreeLight-regular.fntdata"/><Relationship Id="rId23" Type="http://schemas.openxmlformats.org/officeDocument/2006/relationships/font" Target="fonts/Jost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FigtreeLight-italic.fntdata"/><Relationship Id="rId25" Type="http://schemas.openxmlformats.org/officeDocument/2006/relationships/font" Target="fonts/FigtreeLight-bold.fntdata"/><Relationship Id="rId28" Type="http://schemas.openxmlformats.org/officeDocument/2006/relationships/font" Target="fonts/Jost-regular.fntdata"/><Relationship Id="rId27" Type="http://schemas.openxmlformats.org/officeDocument/2006/relationships/font" Target="fonts/FigtreeLigh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Jos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Jost-boldItalic.fntdata"/><Relationship Id="rId30" Type="http://schemas.openxmlformats.org/officeDocument/2006/relationships/font" Target="fonts/Jos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Figtree-bold.fntdata"/><Relationship Id="rId16" Type="http://schemas.openxmlformats.org/officeDocument/2006/relationships/font" Target="fonts/Figtree-regular.fntdata"/><Relationship Id="rId19" Type="http://schemas.openxmlformats.org/officeDocument/2006/relationships/font" Target="fonts/Figtree-boldItalic.fntdata"/><Relationship Id="rId18" Type="http://schemas.openxmlformats.org/officeDocument/2006/relationships/font" Target="fonts/Figtre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3fdf742d7_0_1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3fdf742d7_0_1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3fdf742d7_0_2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3fdf742d7_0_2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3fdf742d7_0_2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a3fdf742d7_0_2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3fdf742d7_0_2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a3fdf742d7_0_2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3fdf742d7_0_2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a3fdf742d7_0_2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3fdf742d7_0_2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a3fdf742d7_0_2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3fdf742d7_0_2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a3fdf742d7_0_2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3fdf742d7_0_2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3fdf742d7_0_2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6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6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6" name="Google Shape;86;p16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9" name="Google Shape;109;p17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0" name="Google Shape;110;p17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1" name="Google Shape;111;p17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2" name="Google Shape;112;p17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3" name="Google Shape;113;p17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4" name="Google Shape;114;p17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123" name="Google Shape;123;p19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9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20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5" name="Google Shape;135;p20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8" name="Google Shape;138;p21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9" name="Google Shape;139;p21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1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45" name="Google Shape;145;p21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2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4" name="Google Shape;154;p22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3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8" name="Google Shape;168;p24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9" name="Google Shape;169;p24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0" name="Google Shape;170;p24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4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4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4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4" name="Google Shape;174;p24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5" name="Google Shape;175;p24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8" name="Google Shape;178;p25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3" name="Google Shape;183;p25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5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6" name="Google Shape;186;p25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25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5" name="Google Shape;195;p26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6" name="Google Shape;196;p26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2" name="Google Shape;202;p27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27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27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7" name="Google Shape;207;p27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8" name="Google Shape;208;p27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0" name="Google Shape;210;p27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1" name="Google Shape;211;p27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8" name="Google Shape;218;p28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9" name="Google Shape;219;p28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" name="Google Shape;220;p28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1" name="Google Shape;221;p28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7" name="Google Shape;227;p29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9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2" name="Google Shape;232;p29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4" name="Google Shape;234;p29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6" name="Google Shape;236;p29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8" name="Google Shape;238;p29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2" name="Google Shape;242;p3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3" name="Google Shape;243;p30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5" name="Google Shape;245;p30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6" name="Google Shape;246;p30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7" name="Google Shape;247;p30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8" name="Google Shape;248;p30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9" name="Google Shape;249;p30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50" name="Google Shape;250;p30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1" name="Google Shape;251;p30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3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7" name="Google Shape;257;p31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31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9" name="Google Shape;259;p31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0" name="Google Shape;260;p31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31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2" name="Google Shape;262;p31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31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4" name="Google Shape;264;p31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5" name="Google Shape;265;p31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8" name="Google Shape;268;p32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69" name="Google Shape;269;p32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1" name="Google Shape;271;p32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3" name="Google Shape;273;p32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4" name="Google Shape;274;p32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5" name="Google Shape;275;p32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6" name="Google Shape;276;p32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7" name="Google Shape;277;p32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8" name="Google Shape;278;p32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9" name="Google Shape;279;p32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0" name="Google Shape;280;p32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1" name="Google Shape;281;p32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82" name="Google Shape;282;p3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3" name="Google Shape;283;p32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4" name="Google Shape;284;p32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7" name="Google Shape;287;p33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0" name="Google Shape;290;p3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2" name="Google Shape;292;p33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3" name="Google Shape;293;p33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4" name="Google Shape;294;p33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5" name="Google Shape;295;p33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33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9" name="Google Shape;299;p3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0" name="Google Shape;300;p3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1" name="Google Shape;301;p3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303" name="Google Shape;303;p34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4" name="Google Shape;304;p34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6" name="Google Shape;306;p34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8" name="Google Shape;308;p34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310" name="Google Shape;310;p34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1" name="Google Shape;311;p34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3" name="Google Shape;313;p34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4" name="Google Shape;314;p34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5" name="Google Shape;315;p34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34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19" name="Google Shape;319;p3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20" name="Google Shape;320;p3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6" name="Google Shape;326;p35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9" name="Google Shape;329;p35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2" name="Google Shape;332;p35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6" name="Google Shape;336;p3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7" name="Google Shape;337;p3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9" name="Google Shape;339;p3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6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1" name="Google Shape;341;p36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3" name="Google Shape;343;p36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4" name="Google Shape;344;p36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6" name="Google Shape;346;p36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7" name="Google Shape;347;p36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1" name="Google Shape;351;p3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2" name="Google Shape;352;p3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3" name="Google Shape;353;p37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55" name="Google Shape;355;p37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6" name="Google Shape;356;p37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7" name="Google Shape;357;p37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8" name="Google Shape;358;p37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9" name="Google Shape;359;p37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0" name="Google Shape;360;p37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1" name="Google Shape;361;p37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2" name="Google Shape;362;p37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3" name="Google Shape;363;p37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4" name="Google Shape;364;p37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9" name="Google Shape;369;p37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70" name="Google Shape;370;p37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3" name="Google Shape;373;p38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4" name="Google Shape;374;p3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6" name="Google Shape;376;p38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7" name="Google Shape;377;p38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8" name="Google Shape;378;p38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0" name="Google Shape;400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2" name="Google Shape;422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0" name="Google Shape;430;p5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7" name="Google Shape;457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9600"/>
            <a:ext cx="3388975" cy="274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0"/>
          <p:cNvSpPr txBox="1"/>
          <p:nvPr/>
        </p:nvSpPr>
        <p:spPr>
          <a:xfrm>
            <a:off x="3494625" y="964188"/>
            <a:ext cx="5596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D966"/>
                </a:solidFill>
                <a:latin typeface="Jost"/>
                <a:ea typeface="Jost"/>
                <a:cs typeface="Jost"/>
                <a:sym typeface="Jost"/>
              </a:rPr>
              <a:t>Card Recommender</a:t>
            </a:r>
            <a:endParaRPr sz="6000">
              <a:solidFill>
                <a:srgbClr val="FFD96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85" name="Google Shape;485;p60"/>
          <p:cNvSpPr txBox="1"/>
          <p:nvPr/>
        </p:nvSpPr>
        <p:spPr>
          <a:xfrm>
            <a:off x="1895400" y="3365550"/>
            <a:ext cx="535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Charlie Jansen</a:t>
            </a:r>
            <a:endParaRPr sz="24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/>
          <p:nvPr>
            <p:ph idx="3" type="title"/>
          </p:nvPr>
        </p:nvSpPr>
        <p:spPr>
          <a:xfrm>
            <a:off x="228600" y="457200"/>
            <a:ext cx="3432600" cy="5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What is STS?</a:t>
            </a:r>
            <a:endParaRPr sz="3200"/>
          </a:p>
        </p:txBody>
      </p:sp>
      <p:sp>
        <p:nvSpPr>
          <p:cNvPr id="491" name="Google Shape;491;p61"/>
          <p:cNvSpPr txBox="1"/>
          <p:nvPr>
            <p:ph idx="1" type="subTitle"/>
          </p:nvPr>
        </p:nvSpPr>
        <p:spPr>
          <a:xfrm>
            <a:off x="228600" y="1020300"/>
            <a:ext cx="41337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Deckbuilder Roguelike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Easy(ish) to learn, hard to master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Card rewards: choose 1 of 3 (usually)</a:t>
            </a:r>
            <a:endParaRPr/>
          </a:p>
        </p:txBody>
      </p:sp>
      <p:sp>
        <p:nvSpPr>
          <p:cNvPr id="492" name="Google Shape;492;p61"/>
          <p:cNvSpPr txBox="1"/>
          <p:nvPr>
            <p:ph idx="3" type="title"/>
          </p:nvPr>
        </p:nvSpPr>
        <p:spPr>
          <a:xfrm>
            <a:off x="228600" y="2571750"/>
            <a:ext cx="4133700" cy="5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Why does this matter?</a:t>
            </a:r>
            <a:endParaRPr sz="3200"/>
          </a:p>
        </p:txBody>
      </p:sp>
      <p:sp>
        <p:nvSpPr>
          <p:cNvPr id="493" name="Google Shape;493;p61"/>
          <p:cNvSpPr txBox="1"/>
          <p:nvPr>
            <p:ph idx="1" type="subTitle"/>
          </p:nvPr>
        </p:nvSpPr>
        <p:spPr>
          <a:xfrm>
            <a:off x="228600" y="3134850"/>
            <a:ext cx="43434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Picking the correct card is difficult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Takes a ton of time (hundreds of hours) to learn cards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The answer is almost always “it depends”</a:t>
            </a:r>
            <a:endParaRPr/>
          </a:p>
        </p:txBody>
      </p:sp>
      <p:pic>
        <p:nvPicPr>
          <p:cNvPr id="494" name="Google Shape;4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700" y="1057038"/>
            <a:ext cx="4267199" cy="3029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Data</a:t>
            </a:r>
            <a:endParaRPr sz="2400"/>
          </a:p>
        </p:txBody>
      </p:sp>
      <p:sp>
        <p:nvSpPr>
          <p:cNvPr id="500" name="Google Shape;500;p62"/>
          <p:cNvSpPr txBox="1"/>
          <p:nvPr/>
        </p:nvSpPr>
        <p:spPr>
          <a:xfrm>
            <a:off x="457200" y="889000"/>
            <a:ext cx="71754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 dataset of 77 million Slay the Spire runs, made public by the developers of the game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 used a subset of 422,000 runs, filtered for only “good runs”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○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Runs that made it far, only on high difficulty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○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Ensured that the choices being made were relatively good choices, made by somewhat knowledgeable players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Ended with ~6700 “good runs,” with ~1340 of those set aside as a test set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Char char="●"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Processed into a form that would contain the deck state of each run at each floor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01" name="Google Shape;50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73112"/>
            <a:ext cx="9144001" cy="144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/>
          <p:nvPr/>
        </p:nvSpPr>
        <p:spPr>
          <a:xfrm>
            <a:off x="228738" y="3103492"/>
            <a:ext cx="8686500" cy="887400"/>
          </a:xfrm>
          <a:prstGeom prst="roundRect">
            <a:avLst>
              <a:gd fmla="val 7911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7" name="Google Shape;507;p63"/>
          <p:cNvSpPr/>
          <p:nvPr/>
        </p:nvSpPr>
        <p:spPr>
          <a:xfrm>
            <a:off x="228750" y="1142175"/>
            <a:ext cx="8686500" cy="887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8" name="Google Shape;508;p63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Finds the runs with the most similar decks, and recommends the card that those runs picked most often in the next few floors</a:t>
            </a:r>
            <a:endParaRPr sz="1400"/>
          </a:p>
        </p:txBody>
      </p:sp>
      <p:sp>
        <p:nvSpPr>
          <p:cNvPr id="509" name="Google Shape;509;p63"/>
          <p:cNvSpPr txBox="1"/>
          <p:nvPr>
            <p:ph idx="3" type="subTitle"/>
          </p:nvPr>
        </p:nvSpPr>
        <p:spPr>
          <a:xfrm>
            <a:off x="1603900" y="4342900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/>
              <a:t>Nearest Neighbors &amp; Deck State</a:t>
            </a:r>
            <a:endParaRPr sz="1600"/>
          </a:p>
        </p:txBody>
      </p:sp>
      <p:sp>
        <p:nvSpPr>
          <p:cNvPr id="510" name="Google Shape;510;p63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1" name="Google Shape;511;p63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Recommends the card that appears the most often in final decks</a:t>
            </a:r>
            <a:endParaRPr sz="1400"/>
          </a:p>
        </p:txBody>
      </p:sp>
      <p:sp>
        <p:nvSpPr>
          <p:cNvPr id="512" name="Google Shape;512;p63"/>
          <p:cNvSpPr txBox="1"/>
          <p:nvPr>
            <p:ph idx="6" type="subTitle"/>
          </p:nvPr>
        </p:nvSpPr>
        <p:spPr>
          <a:xfrm>
            <a:off x="1603900" y="3339275"/>
            <a:ext cx="26895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/>
              <a:t>Appearance Rate Recommender</a:t>
            </a:r>
            <a:endParaRPr sz="1600"/>
          </a:p>
        </p:txBody>
      </p:sp>
      <p:sp>
        <p:nvSpPr>
          <p:cNvPr id="513" name="Google Shape;513;p63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4" name="Google Shape;514;p63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Recommends the highest rarity card (very simple)</a:t>
            </a:r>
            <a:endParaRPr sz="1400"/>
          </a:p>
        </p:txBody>
      </p:sp>
      <p:sp>
        <p:nvSpPr>
          <p:cNvPr id="515" name="Google Shape;515;p63"/>
          <p:cNvSpPr txBox="1"/>
          <p:nvPr>
            <p:ph idx="9" type="subTitle"/>
          </p:nvPr>
        </p:nvSpPr>
        <p:spPr>
          <a:xfrm>
            <a:off x="1603900" y="2358600"/>
            <a:ext cx="26895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/>
              <a:t>High Rarity Recommender</a:t>
            </a:r>
            <a:endParaRPr sz="1600"/>
          </a:p>
        </p:txBody>
      </p:sp>
      <p:sp>
        <p:nvSpPr>
          <p:cNvPr id="516" name="Google Shape;516;p63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7" name="Google Shape;517;p63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Recommends the card with the highest pick rate (is picked the most </a:t>
            </a:r>
            <a:r>
              <a:rPr lang="en" sz="1400"/>
              <a:t>when</a:t>
            </a:r>
            <a:r>
              <a:rPr lang="en" sz="1400"/>
              <a:t> offered)</a:t>
            </a:r>
            <a:endParaRPr sz="1400"/>
          </a:p>
        </p:txBody>
      </p:sp>
      <p:sp>
        <p:nvSpPr>
          <p:cNvPr id="518" name="Google Shape;518;p63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Pick Rate Recommender</a:t>
            </a:r>
            <a:endParaRPr sz="1600"/>
          </a:p>
        </p:txBody>
      </p:sp>
      <p:sp>
        <p:nvSpPr>
          <p:cNvPr id="519" name="Google Shape;519;p63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0" name="Google Shape;520;p63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Analysis</a:t>
            </a:r>
            <a:endParaRPr/>
          </a:p>
        </p:txBody>
      </p:sp>
      <p:graphicFrame>
        <p:nvGraphicFramePr>
          <p:cNvPr id="526" name="Google Shape;526;p64"/>
          <p:cNvGraphicFramePr/>
          <p:nvPr/>
        </p:nvGraphicFramePr>
        <p:xfrm>
          <a:off x="3108200" y="18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{A4418823-4D80-41C4-AF5A-62FA3F63B6C3}</a:tableStyleId>
              </a:tblPr>
              <a:tblGrid>
                <a:gridCol w="1685300"/>
                <a:gridCol w="1242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Random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Pick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 Rarity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Appearance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Nearest Neighbors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7" name="Google Shape;527;p64"/>
          <p:cNvSpPr txBox="1"/>
          <p:nvPr/>
        </p:nvSpPr>
        <p:spPr>
          <a:xfrm>
            <a:off x="1906050" y="1131600"/>
            <a:ext cx="533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Metric of choice: Accuracy</a:t>
            </a:r>
            <a:endParaRPr sz="24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5"/>
          <p:cNvSpPr txBox="1"/>
          <p:nvPr>
            <p:ph idx="3" type="title"/>
          </p:nvPr>
        </p:nvSpPr>
        <p:spPr>
          <a:xfrm>
            <a:off x="228600" y="457200"/>
            <a:ext cx="47637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Analysis - Best Model</a:t>
            </a:r>
            <a:endParaRPr sz="2400"/>
          </a:p>
        </p:txBody>
      </p:sp>
      <p:sp>
        <p:nvSpPr>
          <p:cNvPr id="533" name="Google Shape;533;p65"/>
          <p:cNvSpPr txBox="1"/>
          <p:nvPr>
            <p:ph idx="1" type="body"/>
          </p:nvPr>
        </p:nvSpPr>
        <p:spPr>
          <a:xfrm>
            <a:off x="228600" y="2058275"/>
            <a:ext cx="3612900" cy="20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 models give “probabilities” of the recommendation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like “confidence”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&gt;~0.7 confidence more likely to be correct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Maybe do more to determine recommendation in low confidence cases</a:t>
            </a:r>
            <a:endParaRPr sz="1600"/>
          </a:p>
        </p:txBody>
      </p:sp>
      <p:pic>
        <p:nvPicPr>
          <p:cNvPr id="534" name="Google Shape;53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775" y="1125583"/>
            <a:ext cx="4977600" cy="39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6"/>
          <p:cNvSpPr txBox="1"/>
          <p:nvPr>
            <p:ph idx="3" type="title"/>
          </p:nvPr>
        </p:nvSpPr>
        <p:spPr>
          <a:xfrm>
            <a:off x="228600" y="457200"/>
            <a:ext cx="47637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Analysis - Best Model</a:t>
            </a:r>
            <a:endParaRPr sz="2400"/>
          </a:p>
        </p:txBody>
      </p:sp>
      <p:sp>
        <p:nvSpPr>
          <p:cNvPr id="540" name="Google Shape;540;p66"/>
          <p:cNvSpPr txBox="1"/>
          <p:nvPr>
            <p:ph idx="1" type="body"/>
          </p:nvPr>
        </p:nvSpPr>
        <p:spPr>
          <a:xfrm>
            <a:off x="228600" y="2203175"/>
            <a:ext cx="3612900" cy="17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Model is more accurate on earlier floors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Accuracy decreases over time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Lower accuracy later is fine, still more than ~66% for most floors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Performance on earlier floors is more important to me</a:t>
            </a:r>
            <a:endParaRPr sz="1600"/>
          </a:p>
        </p:txBody>
      </p:sp>
      <p:pic>
        <p:nvPicPr>
          <p:cNvPr id="541" name="Google Shape;54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883" y="1125575"/>
            <a:ext cx="4902492" cy="39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7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47" name="Google Shape;547;p67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